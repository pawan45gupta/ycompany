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58"/>
  </p:normalViewPr>
  <p:slideViewPr>
    <p:cSldViewPr snapToGrid="0" snapToObjects="1">
      <p:cViewPr varScale="1">
        <p:scale>
          <a:sx n="115" d="100"/>
          <a:sy n="115" d="100"/>
        </p:scale>
        <p:origin x="66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D7841D-0B0B-14AE-47D5-E740E39F96C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49212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700">
                <a:solidFill>
                  <a:srgbClr val="DAD4CE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4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nagarro-logo-light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600200" cy="39797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Promotion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5822171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 dirty="0" err="1">
                <a:solidFill>
                  <a:srgbClr val="47D7AC"/>
                </a:solidFill>
                <a:latin typeface="Calibri"/>
              </a:rPr>
              <a:t>YCompany</a:t>
            </a:r>
            <a:r>
              <a:rPr sz="1600" b="0" dirty="0">
                <a:solidFill>
                  <a:srgbClr val="47D7AC"/>
                </a:solidFill>
                <a:latin typeface="Calibri"/>
              </a:rPr>
              <a:t> RIMSS — Retail Inventory Management Software System</a:t>
            </a:r>
          </a:p>
          <a:p>
            <a:r>
              <a:rPr lang="en-US" sz="1600" dirty="0">
                <a:solidFill>
                  <a:srgbClr val="FFFFFF"/>
                </a:solidFill>
                <a:latin typeface="Calibri"/>
              </a:rPr>
              <a:t>T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ech Stack &amp; Architecture Overview</a:t>
            </a:r>
          </a:p>
          <a:p>
            <a:r>
              <a:rPr sz="1400" b="0" dirty="0">
                <a:solidFill>
                  <a:srgbClr val="FFFFFF"/>
                </a:solidFill>
                <a:latin typeface="Calibri"/>
              </a:rPr>
              <a:t>Presenter: Pawan Gupta · Nagarro Software Pvt. Ltd.</a:t>
            </a:r>
          </a:p>
          <a:p>
            <a:r>
              <a:rPr sz="1400" b="0" dirty="0">
                <a:solidFill>
                  <a:srgbClr val="FFFFFF"/>
                </a:solidFill>
                <a:latin typeface="Calibri"/>
              </a:rPr>
              <a:t>Date: 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1</a:t>
            </a:r>
            <a:r>
              <a:rPr lang="en-US" sz="1400" b="0" baseline="30000" dirty="0">
                <a:solidFill>
                  <a:srgbClr val="FFFFFF"/>
                </a:solidFill>
                <a:latin typeface="Calibri"/>
              </a:rPr>
              <a:t>st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 September,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buAutoNum type="arabicPeriod"/>
            </a:pPr>
            <a:r>
              <a:rPr sz="1700" b="0" dirty="0">
                <a:solidFill>
                  <a:srgbClr val="06041F"/>
                </a:solidFill>
                <a:latin typeface="Calibri"/>
              </a:rPr>
              <a:t>Project context and business objectives</a:t>
            </a:r>
          </a:p>
          <a:p>
            <a:pPr>
              <a:buAutoNum type="arabicPeriod"/>
            </a:pPr>
            <a:r>
              <a:rPr sz="1700" b="0" dirty="0">
                <a:solidFill>
                  <a:srgbClr val="06041F"/>
                </a:solidFill>
                <a:latin typeface="Calibri"/>
              </a:rPr>
              <a:t>Technology stack (as implemented)</a:t>
            </a:r>
          </a:p>
          <a:p>
            <a:pPr>
              <a:buAutoNum type="arabicPeriod"/>
            </a:pPr>
            <a:r>
              <a:rPr sz="1700" b="0" dirty="0">
                <a:solidFill>
                  <a:srgbClr val="06041F"/>
                </a:solidFill>
                <a:latin typeface="Calibri"/>
              </a:rPr>
              <a:t>Architecture flow diagrams — frontend, system, checkout, order, search</a:t>
            </a:r>
          </a:p>
          <a:p>
            <a:pPr>
              <a:buAutoNum type="arabicPeriod"/>
            </a:pPr>
            <a:r>
              <a:rPr sz="1700" b="0" dirty="0">
                <a:solidFill>
                  <a:srgbClr val="06041F"/>
                </a:solidFill>
                <a:latin typeface="Calibri"/>
              </a:rPr>
              <a:t>Backend APIs, notifications, and observability</a:t>
            </a:r>
          </a:p>
          <a:p>
            <a:pPr>
              <a:buAutoNum type="arabicPeriod"/>
            </a:pPr>
            <a:r>
              <a:rPr sz="1700" b="0" dirty="0">
                <a:solidFill>
                  <a:srgbClr val="06041F"/>
                </a:solidFill>
                <a:latin typeface="Calibri"/>
              </a:rPr>
              <a:t>Summary of engineering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buChar char="•"/>
            </a:pPr>
            <a:r>
              <a:rPr sz="1700" b="0">
                <a:solidFill>
                  <a:srgbClr val="06041F"/>
                </a:solidFill>
                <a:latin typeface="Calibri"/>
              </a:rPr>
              <a:t>Client: YCompany — luxury countryside fashion brand (RIMSS programme).</a:t>
            </a:r>
          </a:p>
          <a:p>
            <a:pPr>
              <a:buChar char="•"/>
            </a:pPr>
            <a:r>
              <a:rPr sz="1700" b="0">
                <a:solidFill>
                  <a:srgbClr val="06041F"/>
                </a:solidFill>
                <a:latin typeface="Calibri"/>
              </a:rPr>
              <a:t>Deliverable: Modern B2C ecommerce storefront with inventory-aware cart and order management.</a:t>
            </a:r>
          </a:p>
          <a:p>
            <a:pPr>
              <a:buChar char="•"/>
            </a:pPr>
            <a:r>
              <a:rPr sz="1700" b="0">
                <a:solidFill>
                  <a:srgbClr val="06041F"/>
                </a:solidFill>
                <a:latin typeface="Calibri"/>
              </a:rPr>
              <a:t>Reference implementation: Next.js 16 monolith — App Router pages + Route Handlers in one codebase.</a:t>
            </a:r>
          </a:p>
          <a:p>
            <a:pPr>
              <a:buChar char="•"/>
            </a:pPr>
            <a:r>
              <a:rPr sz="1700" b="0">
                <a:solidFill>
                  <a:srgbClr val="06041F"/>
                </a:solidFill>
                <a:latin typeface="Calibri"/>
              </a:rPr>
              <a:t>Scope: Catalog browse &amp; search, PDP, cart, Stripe checkout, account &amp; orders, coupons, auth.</a:t>
            </a:r>
          </a:p>
          <a:p>
            <a:pPr>
              <a:buChar char="•"/>
            </a:pPr>
            <a:r>
              <a:rPr sz="1700" b="0">
                <a:solidFill>
                  <a:srgbClr val="06041F"/>
                </a:solidFill>
                <a:latin typeface="Calibri"/>
              </a:rPr>
              <a:t>Demo-ready today; PostgreSQL migration planned as the production data-layer next step.</a:t>
            </a:r>
          </a:p>
          <a:p>
            <a:pPr>
              <a:buChar char="•"/>
            </a:pPr>
            <a:r>
              <a:rPr sz="1700" b="0">
                <a:solidFill>
                  <a:srgbClr val="06041F"/>
                </a:solidFill>
                <a:latin typeface="Calibri"/>
              </a:rPr>
              <a:t>Documents: Solution Approach, DAR, and Estimates aligned to the as-built stack.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Business Context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07008"/>
            <a:ext cx="4892040" cy="4892040"/>
          </a:xfrm>
          <a:prstGeom prst="roundRect">
            <a:avLst/>
          </a:prstGeom>
          <a:solidFill>
            <a:srgbClr val="F4FA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812280" y="1207008"/>
            <a:ext cx="4892040" cy="4892040"/>
          </a:xfrm>
          <a:prstGeom prst="roundRect">
            <a:avLst/>
          </a:prstGeom>
          <a:solidFill>
            <a:srgbClr val="F4FAF8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70156" y="1307592"/>
            <a:ext cx="3847171" cy="310896"/>
          </a:xfrm>
          <a:prstGeom prst="round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Before — Legacy Storefront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48293" y="1298448"/>
            <a:ext cx="3973552" cy="384048"/>
          </a:xfrm>
          <a:prstGeom prst="round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400" b="1" dirty="0">
                <a:solidFill>
                  <a:srgbClr val="06041F"/>
                </a:solidFill>
                <a:latin typeface="Calibri"/>
              </a:rPr>
              <a:t>After — RIMSS (As Built)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828800"/>
            <a:ext cx="461772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828800"/>
            <a:ext cx="4617720" cy="347472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212848"/>
            <a:ext cx="4398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First paint &gt; 60 s on retail Wi‑Fi · UI lag during checkout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1828800"/>
            <a:ext cx="461772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949440" y="1828800"/>
            <a:ext cx="461772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9168" y="2212848"/>
            <a:ext cx="4398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FCP target &lt; 3 s · RSC · next/image · route loading states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788920"/>
            <a:ext cx="461772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2788920"/>
            <a:ext cx="4617720" cy="347472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72968"/>
            <a:ext cx="4398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Slow text search · no filters · no relevance ranking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788920"/>
            <a:ext cx="461772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949440" y="2788920"/>
            <a:ext cx="461772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3172968"/>
            <a:ext cx="4398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Elastic Cloud + fallback · brand/price/sort filters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461772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749039"/>
            <a:ext cx="4617720" cy="347472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Inventory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133087"/>
            <a:ext cx="4398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Out-of-stock SKUs could still be added to cart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3749039"/>
            <a:ext cx="461772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949440" y="3749039"/>
            <a:ext cx="461772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Inventory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4133087"/>
            <a:ext cx="4398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clampAddQuantity() enforces per-SKU stock in cart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709160"/>
            <a:ext cx="461772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" y="4709160"/>
            <a:ext cx="4617720" cy="347472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Experience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093208"/>
            <a:ext cx="4398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Inconsistent layout across mobile and desktop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4709160"/>
            <a:ext cx="461772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949440" y="4709160"/>
            <a:ext cx="461772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Experience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9168" y="5093208"/>
            <a:ext cx="4398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Responsive MUI 9 · drawer nav · mobile cart cards</a:t>
            </a:r>
          </a:p>
        </p:txBody>
      </p:sp>
      <p:sp>
        <p:nvSpPr>
          <p:cNvPr id="34" name="Chevron 33"/>
          <p:cNvSpPr/>
          <p:nvPr/>
        </p:nvSpPr>
        <p:spPr>
          <a:xfrm>
            <a:off x="5623560" y="3063240"/>
            <a:ext cx="868680" cy="1097280"/>
          </a:xfrm>
          <a:prstGeom prst="chevron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40680" y="2331720"/>
            <a:ext cx="1234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Modern
re-platform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Technology Stack (As Implemented)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1088136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6041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47D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6041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47D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6041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47D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Next.js 16 · React 19 · TypeScript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App Router, RSC, SSR/CSR hybrid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UI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Material UI 9 · Emotion 11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Accessible components, SSR cache provider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Client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TanStack Query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Cached API calls, checkout &amp; order mutations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Auth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NextAuth v5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Credentials + OAuth (Google, GitHub, Facebook, Apple)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Payments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Stripe 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Hosted PCI scope, webhooks, coupons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Elastic Cloud + in-memory fallback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searchProducts() facade, npm run search:index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Resend REST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Welcome, order confirm, cancellation emails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Observability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Sentry · GA4 · New Relic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Errors, analytics, APM (env-gated no-ops)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Vitest 4 · RTL · jsdom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201 tests · ~95% line coverage in 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Deploy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Vercel · Docker · Kubernetes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Primary cloud + portable enterprise manifests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Frontend Architecture (High Level)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234440"/>
            <a:ext cx="5212080" cy="475488"/>
          </a:xfrm>
          <a:prstGeom prst="roundRect">
            <a:avLst/>
          </a:prstGeom>
          <a:solidFill>
            <a:srgbClr val="06041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Browser — React 19 + Next.js 16 App Router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3520440" cy="932688"/>
          </a:xfrm>
          <a:prstGeom prst="roundRect">
            <a:avLst/>
          </a:prstGeom>
          <a:solidFill>
            <a:srgbClr val="F4FAF8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Server Components (RSC)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Home · Products · PDP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Server HTML · SEO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5204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Client Components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SearchClient · Cart · Auth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CouponField · Account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965960"/>
            <a:ext cx="3520440" cy="932688"/>
          </a:xfrm>
          <a:prstGeom prst="roundRect">
            <a:avLst/>
          </a:prstGeom>
          <a:solidFill>
            <a:srgbClr val="F4FAF8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Shared Shell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Header / Footer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middleware · loading.tsx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090672"/>
            <a:ext cx="10378440" cy="621792"/>
          </a:xfrm>
          <a:prstGeom prst="roundRect">
            <a:avLst/>
          </a:prstGeom>
          <a:solidFill>
            <a:srgbClr val="47D7AC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Presentation — MUI 9 · Emotion SSR · AppRouterCacheProvider · ThemeProvider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913632"/>
            <a:ext cx="502920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Client State &amp; Data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TanStack Query 5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CartContext + localStorage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useProductSearch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913632"/>
            <a:ext cx="502920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Cross-cutting UI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ProductSearchAutocomplete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GA / Sentry / New Relic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i18n helpers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4956048"/>
            <a:ext cx="8183879" cy="530352"/>
          </a:xfrm>
          <a:prstGeom prst="roundRect">
            <a:avLst/>
          </a:prstGeom>
          <a:solidFill>
            <a:srgbClr val="06041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API Client — fetch /api/* · Zod-validated DTOs · shared query keys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0760" y="1755648"/>
            <a:ext cx="0" cy="64008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10800000">
            <a:off x="5998464" y="1819656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2240280" y="2916936"/>
            <a:ext cx="0" cy="54864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2157984" y="297180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6080760" y="2916936"/>
            <a:ext cx="0" cy="54864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5998464" y="297180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9921240" y="2916936"/>
            <a:ext cx="0" cy="54864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838944" y="297180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6080760" y="3730751"/>
            <a:ext cx="0" cy="64009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5998464" y="379476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6080760" y="4773168"/>
            <a:ext cx="0" cy="64008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5998464" y="4837176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buChar char="•"/>
            </a:pPr>
            <a:r>
              <a:rPr sz="1100" b="0">
                <a:solidFill>
                  <a:srgbClr val="06041F"/>
                </a:solidFill>
                <a:latin typeface="Calibri"/>
              </a:rPr>
              <a:t>RSC delivers fast first paint; client islands handle interactivity only where needed.</a:t>
            </a:r>
          </a:p>
          <a:p>
            <a:pPr>
              <a:buChar char="•"/>
            </a:pPr>
            <a:r>
              <a:rPr sz="1100" b="0">
                <a:solidFill>
                  <a:srgbClr val="06041F"/>
                </a:solidFill>
                <a:latin typeface="Calibri"/>
              </a:rPr>
              <a:t>TanStack Query caches server data; CartContext owns cart persistence and stock clamping.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Backend — Route Handlers (src/app/api/)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1088136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6041F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47D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6041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47D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POST /api/checkout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Create Stripe Checkout Session with coupon + shipping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POST /api/webhooks/stripe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Verify signature; idempotent order on session.completed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POST /api/orders/sync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Fallback reconciliation when webhooks unavailable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GET /api/orders · GET/POST …/[id]/cancel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Authenticated order list, detail, cancel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GET /api/products/search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Rate-limited search (120/min/IP); Cache-Control 30s/SWR 60s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POST /api/coupons/validate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Server-side WELCOME10 / SAVE20 / FREESHIP rules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GET/POST /api/auth/[...nextauth]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NextAuth v5 session + OAuth callbacks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POST /api/auth/signup · forgot/reset-password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041F"/>
                          </a:solidFill>
                          <a:latin typeface="Calibri"/>
                        </a:rPr>
                        <a:t>Registration and password recovery flows</a:t>
                      </a:r>
                    </a:p>
                  </a:txBody>
                  <a:tcPr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System Architecture (High Level)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207008"/>
            <a:ext cx="4846320" cy="420624"/>
          </a:xfrm>
          <a:prstGeom prst="roundRect">
            <a:avLst/>
          </a:prstGeom>
          <a:solidFill>
            <a:srgbClr val="06041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Customer Browser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810512"/>
            <a:ext cx="6355080" cy="420624"/>
          </a:xfrm>
          <a:prstGeom prst="roundRect">
            <a:avLst/>
          </a:prstGeom>
          <a:solidFill>
            <a:srgbClr val="47D7AC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Vercel Edge / CDN — security headers · image optimization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95728"/>
            <a:ext cx="11201400" cy="1874519"/>
          </a:xfrm>
          <a:prstGeom prst="roundRect">
            <a:avLst/>
          </a:prstGeom>
          <a:solidFill>
            <a:srgbClr val="F4FAF8"/>
          </a:solidFill>
          <a:ln>
            <a:solidFill>
              <a:srgbClr val="060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450592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6041F"/>
                </a:solidFill>
                <a:latin typeface="Calibri"/>
              </a:rPr>
              <a:t>Next.js 16 Monolith — React 19 · TypeScript 5 · App Router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43200"/>
            <a:ext cx="3246120" cy="1207008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Server Components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Home · PDP · Search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MUI + TanStack 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743200"/>
            <a:ext cx="3520440" cy="1207008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Route Handlers (/api/*)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checkout · orders · search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auth · webhooks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2743200"/>
            <a:ext cx="2606040" cy="1207008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middleware.ts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Protect /account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NextAuth session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462272"/>
            <a:ext cx="8549640" cy="457200"/>
          </a:xfrm>
          <a:prstGeom prst="roundRect">
            <a:avLst/>
          </a:prstGeom>
          <a:solidFill>
            <a:srgbClr val="47D7AC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Domain Services — orders · coupons · search · inventory · stripe · email (Resend)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102352"/>
            <a:ext cx="26060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NextAuth v5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Credentials + OAuth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5102352"/>
            <a:ext cx="26060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Stripe API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Checkout · webhooks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102352"/>
            <a:ext cx="26060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Elastic Cloud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Product index · fallback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5102352"/>
            <a:ext cx="26060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Persistence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JSON demo · PostgreSQL next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1645920"/>
            <a:ext cx="0" cy="45720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5998464" y="169164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6080760" y="2249424"/>
            <a:ext cx="0" cy="27432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5998464" y="2276856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6080760" y="4288536"/>
            <a:ext cx="0" cy="54864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5998464" y="434340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6080760" y="4937759"/>
            <a:ext cx="0" cy="45721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5998464" y="498348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5833872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buChar char="•"/>
            </a:pPr>
            <a:r>
              <a:rPr sz="1000" b="0">
                <a:solidFill>
                  <a:srgbClr val="666666"/>
                </a:solidFill>
                <a:latin typeface="Calibri"/>
              </a:rPr>
              <a:t>Cross-cutting: Sentry · GA4 · New Relic APM · Resend · scalable on Vercel or Kubernetes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Checkout Flow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170432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170432"/>
            <a:ext cx="10424160" cy="438912"/>
          </a:xfrm>
          <a:prstGeom prst="roundRect">
            <a:avLst/>
          </a:prstGeom>
          <a:solidFill>
            <a:srgbClr val="06041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Browse catalog — Server Components render PDP / category (RSC + next/image)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792224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92224"/>
            <a:ext cx="1042416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Add to cart — CartContext + localStorage · clampAddQuantity()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GA4: add_to_cart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414016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414016"/>
            <a:ext cx="10424160" cy="512064"/>
          </a:xfrm>
          <a:prstGeom prst="roundRect">
            <a:avLst/>
          </a:prstGeom>
          <a:solidFill>
            <a:srgbClr val="F4FAF8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Apply coupon (optional) — CouponField → POST /api/coupons/validate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WELCOME10 · SAVE20 · FREESHIP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035808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035808"/>
            <a:ext cx="1042416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Click Checkout — useCheckout → POST /api/checkout (rate-limited)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GA4: begin_checkout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657600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657600"/>
            <a:ext cx="10424160" cy="512064"/>
          </a:xfrm>
          <a:prstGeom prst="roundRect">
            <a:avLst/>
          </a:prstGeom>
          <a:solidFill>
            <a:srgbClr val="47D7AC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Stripe Checkout Session — shipping · coupon mirrored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stripe.checkout.sessions.create()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279392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279392"/>
            <a:ext cx="1042416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Redirect to Stripe-hosted UI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Apple Pay · Google Pay · 3DS · PCI on Stripe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4901184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901184"/>
            <a:ext cx="10424160" cy="512064"/>
          </a:xfrm>
          <a:prstGeom prst="roundRect">
            <a:avLst/>
          </a:prstGeom>
          <a:solidFill>
            <a:srgbClr val="06041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Customer completes payment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checkout.session.completed queued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1627632"/>
            <a:ext cx="0" cy="45720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5998464" y="1673352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53212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buChar char="•"/>
            </a:pPr>
            <a:r>
              <a:rPr sz="1000" b="0">
                <a:solidFill>
                  <a:srgbClr val="06041F"/>
                </a:solidFill>
                <a:latin typeface="Calibri"/>
              </a:rPr>
              <a:t>Hosted Stripe Checkout keeps YCompany out of PCI scope.</a:t>
            </a:r>
          </a:p>
          <a:p>
            <a:pPr>
              <a:buChar char="•"/>
            </a:pPr>
            <a:r>
              <a:rPr sz="1000" b="0">
                <a:solidFill>
                  <a:srgbClr val="06041F"/>
                </a:solidFill>
                <a:latin typeface="Calibri"/>
              </a:rPr>
              <a:t>Zod-validated payloads; inventory clamping prevents overselling before payment.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Order Flow &amp; Lifecycle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170432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170432"/>
            <a:ext cx="10424160" cy="438912"/>
          </a:xfrm>
          <a:prstGeom prst="roundRect">
            <a:avLst/>
          </a:prstGeom>
          <a:solidFill>
            <a:srgbClr val="06041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Stripe checkout.session.completed (signed webhook)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792224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92224"/>
            <a:ext cx="10424160" cy="530352"/>
          </a:xfrm>
          <a:prstGeom prst="roundRect">
            <a:avLst/>
          </a:prstGeom>
          <a:solidFill>
            <a:srgbClr val="47D7AC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POST /api/webhooks/stripe — verify signature · idempotent handler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createOrderFromCheckout() keyed on stripeSessionId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468880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468880"/>
            <a:ext cx="489204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Order persisted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JSON store · status: 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468880"/>
            <a:ext cx="489204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Notify &amp; track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Resend confirmation · GA4 purchase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3273552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273552"/>
            <a:ext cx="10424160" cy="530352"/>
          </a:xfrm>
          <a:prstGeom prst="roundRect">
            <a:avLst/>
          </a:prstGeom>
          <a:solidFill>
            <a:srgbClr val="F4FAF8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/checkout/success — useSyncOrder fallback → POST /api/orders/sync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Reconciles when webhooks unavailable in local dev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3931920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931920"/>
            <a:ext cx="1042416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Account — GET /api/orders · GET /api/orders/[id] (middleware auth)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/account dashboard · order history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553712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553712"/>
            <a:ext cx="1042416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Cancel while processing — POST /api/orders/[id]/cancel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status → cancelled · Resend cancellation email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" y="5230368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5230368"/>
            <a:ext cx="10424160" cy="420624"/>
          </a:xfrm>
          <a:prstGeom prst="roundRect">
            <a:avLst/>
          </a:prstGeom>
          <a:solidFill>
            <a:srgbClr val="47D7AC"/>
          </a:solidFill>
          <a:ln>
            <a:solidFill>
              <a:srgbClr val="060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Lifecycle: processing → cancelled | shipped | delivered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80760" y="1627632"/>
            <a:ext cx="0" cy="45720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0800000">
            <a:off x="5998464" y="1673352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6080760" y="2340864"/>
            <a:ext cx="0" cy="9144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0800000">
            <a:off x="5998464" y="2350008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80760" y="3145536"/>
            <a:ext cx="0" cy="9144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5998464" y="315468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>
            <a:off x="6080760" y="5102352"/>
            <a:ext cx="0" cy="9144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0800000">
            <a:off x="5998464" y="5111496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760720"/>
            <a:ext cx="10789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buChar char="•"/>
            </a:pPr>
            <a:r>
              <a:rPr sz="1000" b="0">
                <a:solidFill>
                  <a:srgbClr val="06041F"/>
                </a:solidFill>
                <a:latin typeface="Calibri"/>
              </a:rPr>
              <a:t>Webhook and sync paths are idempotent — safe to retry without duplicate orders or emails.</a:t>
            </a:r>
          </a:p>
          <a:p>
            <a:pPr>
              <a:buChar char="•"/>
            </a:pPr>
            <a:r>
              <a:rPr sz="1000" b="0">
                <a:solidFill>
                  <a:srgbClr val="06041F"/>
                </a:solidFill>
                <a:latin typeface="Calibri"/>
              </a:rPr>
              <a:t>Cancellation is user-scoped and only allowed while status is processing.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Search Architecture —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188720"/>
            <a:ext cx="5303520" cy="457200"/>
          </a:xfrm>
          <a:prstGeom prst="roundRect">
            <a:avLst/>
          </a:prstGeom>
          <a:solidFill>
            <a:srgbClr val="F4FAF8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Header autocomplete (parallel)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ProductSearchAutocomplete · in-memory only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1188720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188720"/>
            <a:ext cx="10424160" cy="438912"/>
          </a:xfrm>
          <a:prstGeom prst="roundRect">
            <a:avLst/>
          </a:prstGeom>
          <a:solidFill>
            <a:srgbClr val="06041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 on /search — query + brand / price / sort filters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810512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10512"/>
            <a:ext cx="1042416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SearchClient — 300 ms debounce · useProductSearch (TanStack Query 5)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URL sync via router.replace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487168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487168"/>
            <a:ext cx="10424160" cy="438912"/>
          </a:xfrm>
          <a:prstGeom prst="roundRect">
            <a:avLst/>
          </a:prstGeom>
          <a:solidFill>
            <a:srgbClr val="47D7AC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GET /api/products/search?q=&amp;brands=&amp;min=&amp;max=&amp;sort=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3108960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108960"/>
            <a:ext cx="1042416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API guards — rateLimit 120/min/IP · parseFiltersFromSearchParams (Zod)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3730752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730752"/>
            <a:ext cx="10424160" cy="438912"/>
          </a:xfrm>
          <a:prstGeom prst="roundRect">
            <a:avLst/>
          </a:prstGeom>
          <a:solidFill>
            <a:srgbClr val="06041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searchProducts() facade — src/lib/search.ts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407408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407408"/>
            <a:ext cx="4709160" cy="822960"/>
          </a:xfrm>
          <a:prstGeom prst="roundRect">
            <a:avLst/>
          </a:prstGeom>
          <a:solidFill>
            <a:srgbClr val="47D7AC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Elastic Cloud (primary)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Index ycompany-products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multi_match + filters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npm run search:index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4407408"/>
            <a:ext cx="4709160" cy="822960"/>
          </a:xfrm>
          <a:prstGeom prst="roundRect">
            <a:avLst/>
          </a:prstGeom>
          <a:solidFill>
            <a:srgbClr val="F4FAF8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In-memory fallback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When ES unset / fails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searchCatalog()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Zero-config demos</a:t>
            </a:r>
          </a:p>
        </p:txBody>
      </p:sp>
      <p:sp>
        <p:nvSpPr>
          <p:cNvPr id="20" name="Oval 19"/>
          <p:cNvSpPr/>
          <p:nvPr/>
        </p:nvSpPr>
        <p:spPr>
          <a:xfrm>
            <a:off x="502920" y="5376672"/>
            <a:ext cx="256032" cy="256032"/>
          </a:xfrm>
          <a:prstGeom prst="ellips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5376672"/>
            <a:ext cx="964692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Response { products, total, tookMs, source } · Cache-Control 30s / SWR 60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80760" y="1645920"/>
            <a:ext cx="0" cy="45720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5998464" y="169164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6080760" y="2340864"/>
            <a:ext cx="0" cy="27432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5998464" y="2368296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6080760" y="2944368"/>
            <a:ext cx="0" cy="45720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5998464" y="2990088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8" name="Connector 27"/>
          <p:cNvCxnSpPr/>
          <p:nvPr/>
        </p:nvCxnSpPr>
        <p:spPr>
          <a:xfrm>
            <a:off x="6080760" y="3566160"/>
            <a:ext cx="0" cy="45720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5998464" y="361188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6080760" y="4215384"/>
            <a:ext cx="0" cy="45720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0800000">
            <a:off x="5998464" y="4261104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2761488" y="5248656"/>
            <a:ext cx="0" cy="9144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2679192" y="525780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8476488" y="5248656"/>
            <a:ext cx="0" cy="9144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8394192" y="525780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598932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buChar char="•"/>
            </a:pPr>
            <a:r>
              <a:rPr sz="1000" b="0">
                <a:solidFill>
                  <a:srgbClr val="06041F"/>
                </a:solidFill>
                <a:latin typeface="Calibri"/>
              </a:rPr>
              <a:t>Elastic Cloud optional — set ELASTICSEARCH_CLOUD_ID + ELASTICSEARCH_API_KEY, then npm run search:index.</a:t>
            </a:r>
          </a:p>
          <a:p>
            <a:pPr>
              <a:buChar char="•"/>
            </a:pPr>
            <a:r>
              <a:rPr sz="1000" b="0">
                <a:solidFill>
                  <a:srgbClr val="06041F"/>
                </a:solidFill>
                <a:latin typeface="Calibri"/>
              </a:rPr>
              <a:t>Header autocomplete bypasses the API for instant typeahead; full search uses the flow above.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Notifications &amp;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07008"/>
            <a:ext cx="5532120" cy="4709160"/>
          </a:xfrm>
          <a:prstGeom prst="roundRect">
            <a:avLst/>
          </a:prstGeom>
          <a:solidFill>
            <a:srgbClr val="F4FAF8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72200" y="1207008"/>
            <a:ext cx="5532120" cy="4709160"/>
          </a:xfrm>
          <a:prstGeom prst="roundRect">
            <a:avLst/>
          </a:prstGeom>
          <a:solidFill>
            <a:srgbClr val="F4FAF8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92459" y="1298448"/>
            <a:ext cx="4449336" cy="384048"/>
          </a:xfrm>
          <a:prstGeom prst="round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400" b="1" dirty="0">
                <a:solidFill>
                  <a:srgbClr val="06041F"/>
                </a:solidFill>
                <a:latin typeface="Calibri"/>
              </a:rPr>
              <a:t>Transactional Email — Resend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5166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Email layer — src/lib/email/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send.ts → Resend REST API when RESEND_API_KEY is set</a:t>
            </a:r>
          </a:p>
          <a:p>
            <a:pPr algn="ctr"/>
            <a:r>
              <a:rPr sz="900" b="0">
                <a:solidFill>
                  <a:srgbClr val="06041F"/>
                </a:solidFill>
                <a:latin typeface="Calibri"/>
              </a:rPr>
              <a:t>templates.ts → HTML + plain-text · console fallback for local dev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78608"/>
            <a:ext cx="160020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2578608"/>
            <a:ext cx="160020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Welcome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962656"/>
            <a:ext cx="138074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Trigger: POST /api/auth/signup</a:t>
            </a:r>
          </a:p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New user onboarding</a:t>
            </a:r>
          </a:p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sendWelcomeEmail()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2578608"/>
            <a:ext cx="160020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23160" y="2578608"/>
            <a:ext cx="160020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Order confirm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2888" y="2962656"/>
            <a:ext cx="138074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Trigger: Stripe webhook</a:t>
            </a:r>
          </a:p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+ POST /api/orders/sync</a:t>
            </a:r>
          </a:p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Idempotent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578608"/>
            <a:ext cx="160020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60520" y="2578608"/>
            <a:ext cx="160020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Cancellation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2962656"/>
            <a:ext cx="138074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Trigger: POST …/cancel</a:t>
            </a:r>
          </a:p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status → cancelled</a:t>
            </a:r>
          </a:p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sendOrderCancellationEmail()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310128" y="4014215"/>
            <a:ext cx="0" cy="54865"/>
          </a:xfrm>
          <a:prstGeom prst="line">
            <a:avLst/>
          </a:prstGeom>
          <a:ln w="28575">
            <a:solidFill>
              <a:srgbClr val="47D7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3227832" y="4069080"/>
            <a:ext cx="164592" cy="100584"/>
          </a:xfrm>
          <a:prstGeom prst="triangle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85800" y="4187952"/>
            <a:ext cx="5166360" cy="502920"/>
          </a:xfrm>
          <a:prstGeom prst="roundRect">
            <a:avLst/>
          </a:prstGeom>
          <a:solidFill>
            <a:srgbClr val="47D7AC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Resend → verified domain · onboarding@resend.dev in dev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57277" y="1298448"/>
            <a:ext cx="4542263" cy="384048"/>
          </a:xfrm>
          <a:prstGeom prst="round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Observability — env-gated no-ops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783080"/>
            <a:ext cx="160020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55080" y="1783080"/>
            <a:ext cx="1600200" cy="347472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Sentry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167128"/>
            <a:ext cx="13807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Errors + stack traces</a:t>
            </a:r>
          </a:p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Session replay</a:t>
            </a:r>
          </a:p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Performance traces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1783080"/>
            <a:ext cx="160020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92440" y="1783080"/>
            <a:ext cx="1600200" cy="347472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Google GA4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7" y="2167128"/>
            <a:ext cx="13807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add_to_cart · purchase</a:t>
            </a:r>
          </a:p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begin_checkout · search</a:t>
            </a:r>
          </a:p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apply_coupon events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29800" y="1783080"/>
            <a:ext cx="160020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829800" y="1783080"/>
            <a:ext cx="1600200" cy="347472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New Relic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9528" y="2167128"/>
            <a:ext cx="13807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Server APM agent</a:t>
            </a:r>
          </a:p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Docker / K8s preload</a:t>
            </a:r>
          </a:p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Distributed tracing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154680"/>
            <a:ext cx="5257800" cy="384048"/>
          </a:xfrm>
          <a:prstGeom prst="round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400" b="1">
                <a:solidFill>
                  <a:srgbClr val="06041F"/>
                </a:solidFill>
                <a:latin typeface="Calibri"/>
              </a:rPr>
              <a:t>Quality Gates — CI enforced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55080" y="3639312"/>
            <a:ext cx="5074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tlCol="0" anchor="ctr"/>
          <a:lstStyle/>
          <a:p>
            <a:pPr algn="ctr">
              <a:buAutoNum type="arabicPeriod"/>
            </a:pPr>
            <a:r>
              <a:rPr sz="1000" b="1">
                <a:solidFill>
                  <a:srgbClr val="06041F"/>
                </a:solidFill>
                <a:latin typeface="Calibri"/>
              </a:rPr>
              <a:t>Vitest 4 + React Testing Library — 201 automated tests in reference impl</a:t>
            </a:r>
          </a:p>
          <a:p>
            <a:pPr>
              <a:buAutoNum type="arabicPeriod"/>
            </a:pPr>
            <a:r>
              <a:rPr sz="1000" b="0">
                <a:solidFill>
                  <a:srgbClr val="06041F"/>
                </a:solidFill>
                <a:latin typeface="Calibri"/>
              </a:rPr>
              <a:t>Coverage thresholds — Lines / functions ≥ 90% · branches ≥ 85%</a:t>
            </a:r>
          </a:p>
          <a:p>
            <a:pPr>
              <a:buAutoNum type="arabicPeriod"/>
            </a:pPr>
            <a:r>
              <a:rPr sz="1000" b="0">
                <a:solidFill>
                  <a:srgbClr val="06041F"/>
                </a:solidFill>
                <a:latin typeface="Calibri"/>
              </a:rPr>
              <a:t>Static analysis — ESLint (eslint-config-next) · TypeScript strict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80" y="4828032"/>
            <a:ext cx="5074920" cy="566928"/>
          </a:xfrm>
          <a:prstGeom prst="roundRect">
            <a:avLst/>
          </a:prstGeom>
          <a:solidFill>
            <a:srgbClr val="47D7AC"/>
          </a:solidFill>
          <a:ln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rtlCol="0" anchor="t"/>
          <a:lstStyle/>
          <a:p>
            <a:pPr algn="ctr"/>
            <a:r>
              <a:rPr sz="1000" b="1">
                <a:solidFill>
                  <a:srgbClr val="06041F"/>
                </a:solidFill>
                <a:latin typeface="Calibri"/>
              </a:rPr>
              <a:t>Pattern: all integrations optional until env vars are configured</a:t>
            </a:r>
          </a:p>
          <a:p>
            <a:pPr algn="ctr"/>
            <a:r>
              <a:rPr sz="800" b="0">
                <a:solidFill>
                  <a:srgbClr val="06041F"/>
                </a:solidFill>
                <a:latin typeface="Calibri"/>
              </a:rPr>
              <a:t>Frictionless local dev · staged production rollout · reportError() central hook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98932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buChar char="•"/>
            </a:pPr>
            <a:r>
              <a:rPr sz="1000" b="0">
                <a:solidFill>
                  <a:srgbClr val="06041F"/>
                </a:solidFill>
                <a:latin typeface="Calibri"/>
              </a:rPr>
              <a:t>Emails and observability share the same graceful-degradation model — demos work without cloud credentials.</a:t>
            </a:r>
          </a:p>
          <a:p>
            <a:pPr>
              <a:buChar char="•"/>
            </a:pPr>
            <a:r>
              <a:rPr sz="1000" b="0">
                <a:solidFill>
                  <a:srgbClr val="06041F"/>
                </a:solidFill>
                <a:latin typeface="Calibri"/>
              </a:rPr>
              <a:t>Order emails tie into checkout and cancel flows (see Order Flow slide); GA4 mirrors the full commerce funnel.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Deployment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789920" cy="1569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buChar char="•"/>
            </a:pPr>
            <a:r>
              <a:rPr sz="1600" b="0" dirty="0">
                <a:solidFill>
                  <a:srgbClr val="06041F"/>
                </a:solidFill>
                <a:latin typeface="Calibri"/>
              </a:rPr>
              <a:t>Primary target: </a:t>
            </a:r>
            <a:r>
              <a:rPr sz="1600" b="0" dirty="0" err="1">
                <a:solidFill>
                  <a:srgbClr val="06041F"/>
                </a:solidFill>
                <a:latin typeface="Calibri"/>
              </a:rPr>
              <a:t>Vercel</a:t>
            </a:r>
            <a:r>
              <a:rPr sz="1600" b="0" dirty="0">
                <a:solidFill>
                  <a:srgbClr val="06041F"/>
                </a:solidFill>
                <a:latin typeface="Calibri"/>
              </a:rPr>
              <a:t> — </a:t>
            </a:r>
            <a:r>
              <a:rPr sz="1600" b="0" dirty="0" err="1">
                <a:solidFill>
                  <a:srgbClr val="06041F"/>
                </a:solidFill>
                <a:latin typeface="Calibri"/>
              </a:rPr>
              <a:t>vercel.json</a:t>
            </a:r>
            <a:r>
              <a:rPr sz="1600" b="0" dirty="0">
                <a:solidFill>
                  <a:srgbClr val="06041F"/>
                </a:solidFill>
                <a:latin typeface="Calibri"/>
              </a:rPr>
              <a:t>, iad1 region, security headers.</a:t>
            </a:r>
          </a:p>
          <a:p>
            <a:pPr>
              <a:buChar char="•"/>
            </a:pPr>
            <a:r>
              <a:rPr sz="1600" b="0" dirty="0">
                <a:solidFill>
                  <a:srgbClr val="06041F"/>
                </a:solidFill>
                <a:latin typeface="Calibri"/>
              </a:rPr>
              <a:t>Docker: node:22-alpine standalone </a:t>
            </a:r>
            <a:r>
              <a:rPr sz="1600" b="0" dirty="0" err="1">
                <a:solidFill>
                  <a:srgbClr val="06041F"/>
                </a:solidFill>
                <a:latin typeface="Calibri"/>
              </a:rPr>
              <a:t>Next.js</a:t>
            </a:r>
            <a:r>
              <a:rPr sz="1600" b="0" dirty="0">
                <a:solidFill>
                  <a:srgbClr val="06041F"/>
                </a:solidFill>
                <a:latin typeface="Calibri"/>
              </a:rPr>
              <a:t> output for portable runtimes.</a:t>
            </a:r>
          </a:p>
          <a:p>
            <a:pPr>
              <a:buChar char="•"/>
            </a:pPr>
            <a:r>
              <a:rPr sz="1600" b="0" dirty="0">
                <a:solidFill>
                  <a:srgbClr val="06041F"/>
                </a:solidFill>
                <a:latin typeface="Calibri"/>
              </a:rPr>
              <a:t>Kubernetes: Deployment (replicas: 2), Service, </a:t>
            </a:r>
            <a:r>
              <a:rPr sz="1600" b="0" dirty="0" err="1">
                <a:solidFill>
                  <a:srgbClr val="06041F"/>
                </a:solidFill>
                <a:latin typeface="Calibri"/>
              </a:rPr>
              <a:t>ConfigMap</a:t>
            </a:r>
            <a:r>
              <a:rPr sz="1600" b="0" dirty="0">
                <a:solidFill>
                  <a:srgbClr val="06041F"/>
                </a:solidFill>
                <a:latin typeface="Calibri"/>
              </a:rPr>
              <a:t>, Secret, probes </a:t>
            </a:r>
            <a:r>
              <a:rPr lang="en-US" sz="1600" dirty="0">
                <a:solidFill>
                  <a:srgbClr val="06041F"/>
                </a:solidFill>
                <a:latin typeface="Calibri"/>
              </a:rPr>
              <a:t>on /</a:t>
            </a:r>
            <a:r>
              <a:rPr sz="1600" b="0" dirty="0">
                <a:solidFill>
                  <a:srgbClr val="06041F"/>
                </a:solidFill>
                <a:latin typeface="Calibri"/>
              </a:rPr>
              <a:t>.</a:t>
            </a:r>
          </a:p>
          <a:p>
            <a:pPr>
              <a:buChar char="•"/>
            </a:pPr>
            <a:r>
              <a:rPr sz="1600" b="0" dirty="0">
                <a:solidFill>
                  <a:srgbClr val="06041F"/>
                </a:solidFill>
                <a:latin typeface="Calibri"/>
              </a:rPr>
              <a:t>All third-party integrations are no-ops when env vars are unset — frictionless local dev.</a:t>
            </a:r>
          </a:p>
          <a:p>
            <a:pPr>
              <a:buChar char="•"/>
            </a:pPr>
            <a:r>
              <a:rPr sz="1600" b="0" dirty="0">
                <a:solidFill>
                  <a:srgbClr val="06041F"/>
                </a:solidFill>
                <a:latin typeface="Calibri"/>
              </a:rPr>
              <a:t>Recommended production path: </a:t>
            </a:r>
            <a:r>
              <a:rPr sz="1600" b="0" dirty="0" err="1">
                <a:solidFill>
                  <a:srgbClr val="06041F"/>
                </a:solidFill>
                <a:latin typeface="Calibri"/>
              </a:rPr>
              <a:t>Vercel</a:t>
            </a:r>
            <a:r>
              <a:rPr sz="1600" b="0" dirty="0">
                <a:solidFill>
                  <a:srgbClr val="06041F"/>
                </a:solidFill>
                <a:latin typeface="Calibri"/>
              </a:rPr>
              <a:t> + Postgres (Prisma/Drizzle) + Elastic Cloud trial/demo.</a:t>
            </a:r>
          </a:p>
          <a:p>
            <a:pPr>
              <a:buChar char="•"/>
            </a:pPr>
            <a:r>
              <a:rPr sz="1600" b="0" dirty="0">
                <a:solidFill>
                  <a:srgbClr val="06041F"/>
                </a:solidFill>
                <a:latin typeface="Calibri"/>
              </a:rPr>
              <a:t>Enterprise alternative: K8s + Docker with same codebase and observability agents.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agarro-logo-dark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1600200" cy="397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56032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6041F"/>
                </a:solidFill>
                <a:latin typeface="Calibri"/>
              </a:rPr>
              <a:t>Summary — Engineering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07008"/>
            <a:ext cx="11201400" cy="658368"/>
          </a:xfrm>
          <a:prstGeom prst="round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7D7AC"/>
                </a:solidFill>
                <a:latin typeface="Calibri"/>
              </a:rPr>
              <a:t>201 tests  ·  ~95% line coverage  ·  14 storefront screens  ·  Next.js 16 monolith  ·  demo-ready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29968"/>
            <a:ext cx="352044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029968"/>
            <a:ext cx="352044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End-to-end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3009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Architecture · implementation · Vitest suite · DAR / Solution Approach · k8s + Docker manifests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29968"/>
            <a:ext cx="352044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2029968"/>
            <a:ext cx="352044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Modern UX 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414016"/>
            <a:ext cx="33009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Next.js 16 · React 19 · MUI 9 · accessible responsive layouts · PCI-safe Stripe Checkout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029968"/>
            <a:ext cx="352044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19" y="2029968"/>
            <a:ext cx="352044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Resilient integrations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7" y="2414016"/>
            <a:ext cx="33009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Elastic search + in-memory fallback · Resend email + console fallback · optional observability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13048"/>
            <a:ext cx="352044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3813048"/>
            <a:ext cx="352044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Production 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197096"/>
            <a:ext cx="33009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Zod validation · rate limiting · signed Stripe webhooks · idempotent orders &amp; emails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813048"/>
            <a:ext cx="352044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813048"/>
            <a:ext cx="352044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Quality gates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4197096"/>
            <a:ext cx="33009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Vitest + RTL · coverage ≥ 90% lines/functions · ESLint · TypeScript strict in CI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19" y="3813048"/>
            <a:ext cx="352044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7D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46719" y="3813048"/>
            <a:ext cx="3520440" cy="34747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Future-ready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56447" y="4197096"/>
            <a:ext cx="33009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</a:pPr>
            <a:r>
              <a:rPr sz="900" b="0">
                <a:solidFill>
                  <a:srgbClr val="06041F"/>
                </a:solidFill>
                <a:latin typeface="Calibri"/>
              </a:rPr>
              <a:t>Clear PostgreSQL migration path · same storefront layer · enterprise K8s portability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50992"/>
            <a:ext cx="11201400" cy="475488"/>
          </a:xfrm>
          <a:prstGeom prst="roundRect">
            <a:avLst/>
          </a:prstGeom>
          <a:solidFill>
            <a:srgbClr val="47D7AC"/>
          </a:solidFill>
          <a:ln>
            <a:solidFill>
              <a:srgbClr val="060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6041F"/>
                </a:solidFill>
                <a:latin typeface="Calibri"/>
              </a:rPr>
              <a:t>Delivered a promotion-ready reference implementation — fast demos locally, staged cloud rollout, enterprise deploy option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Nagarro · YCompany RIMSS ·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4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nagarro-logo-light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600200" cy="39797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47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1546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1078992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47D7AC"/>
                </a:solidFill>
                <a:latin typeface="Calibri"/>
              </a:rPr>
              <a:t>Pawan Gupta</a:t>
            </a:r>
          </a:p>
          <a:p>
            <a:r>
              <a:rPr lang="en-US" sz="1800" b="0" dirty="0">
                <a:solidFill>
                  <a:srgbClr val="FFFFFF"/>
                </a:solidFill>
                <a:latin typeface="Calibri"/>
              </a:rPr>
              <a:t>Email : </a:t>
            </a:r>
            <a:r>
              <a:rPr sz="1800" b="0" dirty="0" err="1">
                <a:solidFill>
                  <a:srgbClr val="FFFFFF"/>
                </a:solidFill>
                <a:latin typeface="Calibri"/>
              </a:rPr>
              <a:t>pawan.gupta@nagarro.com</a:t>
            </a:r>
            <a:endParaRPr sz="1800" b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175d2d60-704b-40a9-a2cb-c739440f4137}" enabled="1" method="Privileged" siteId="{f0bdc1c9-5148-4f86-ac40-edd976e1814c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1859</Words>
  <Application>Microsoft Macintosh PowerPoint</Application>
  <PresentationFormat>Widescreen</PresentationFormat>
  <Paragraphs>288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Gupta, Pawan</cp:lastModifiedBy>
  <cp:revision>2</cp:revision>
  <dcterms:created xsi:type="dcterms:W3CDTF">2013-01-27T09:14:16Z</dcterms:created>
  <dcterms:modified xsi:type="dcterms:W3CDTF">2026-08-31T07:07:10Z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Confidential</vt:lpwstr>
  </property>
</Properties>
</file>